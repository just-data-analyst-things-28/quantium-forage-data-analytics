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87" autoAdjust="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6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9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6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33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6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06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736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0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96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47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472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517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0594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895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839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38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E829B-D55C-4FD0-A8E5-9F11F5BBFE1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C6A5787-CAEC-442D-A106-CB4AE795D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99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0593-6BA9-D089-B698-48114E5A3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032" y="99809"/>
            <a:ext cx="9144000" cy="2387600"/>
          </a:xfrm>
        </p:spPr>
        <p:txBody>
          <a:bodyPr/>
          <a:lstStyle/>
          <a:p>
            <a:r>
              <a:rPr lang="en-IN" b="1"/>
              <a:t>Category Review: Chips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EAE9C-DD7E-8218-2848-BE6E3F1CB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9032" y="3222522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b="1" i="1" dirty="0">
                <a:solidFill>
                  <a:schemeClr val="accent1">
                    <a:lumMod val="50000"/>
                  </a:schemeClr>
                </a:solidFill>
              </a:rPr>
              <a:t>Commercial Performance &amp; Consumer Segmentation Review</a:t>
            </a:r>
          </a:p>
        </p:txBody>
      </p:sp>
    </p:spTree>
    <p:extLst>
      <p:ext uri="{BB962C8B-B14F-4D97-AF65-F5344CB8AC3E}">
        <p14:creationId xmlns:p14="http://schemas.microsoft.com/office/powerpoint/2010/main" val="20814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AA5967-9D3E-9F11-50FB-C5B50741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Executive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32028A-A9EA-45A1-B54C-9A67D34103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Total category sales are driven by </a:t>
            </a:r>
            <a:r>
              <a:rPr lang="en-IN" b="1" dirty="0">
                <a:solidFill>
                  <a:schemeClr val="tx1"/>
                </a:solidFill>
              </a:rPr>
              <a:t>Budget Older Families</a:t>
            </a:r>
            <a:r>
              <a:rPr lang="en-IN" dirty="0">
                <a:solidFill>
                  <a:schemeClr val="tx1"/>
                </a:solidFill>
              </a:rPr>
              <a:t> (via high purchase volumes) and </a:t>
            </a:r>
            <a:r>
              <a:rPr lang="en-IN" b="1" dirty="0">
                <a:solidFill>
                  <a:schemeClr val="tx1"/>
                </a:solidFill>
              </a:rPr>
              <a:t>Mainstream Young Singles/Couples</a:t>
            </a:r>
            <a:r>
              <a:rPr lang="en-IN" dirty="0">
                <a:solidFill>
                  <a:schemeClr val="tx1"/>
                </a:solidFill>
              </a:rPr>
              <a:t> (via premium price-per-unit spending). </a:t>
            </a:r>
          </a:p>
          <a:p>
            <a:r>
              <a:rPr lang="en-IN" dirty="0">
                <a:solidFill>
                  <a:schemeClr val="tx1"/>
                </a:solidFill>
              </a:rPr>
              <a:t>Clear growth opportunities reside in optimizing core </a:t>
            </a:r>
            <a:r>
              <a:rPr lang="en-IN" b="1" dirty="0">
                <a:solidFill>
                  <a:schemeClr val="tx1"/>
                </a:solidFill>
              </a:rPr>
              <a:t>175g pack sizes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FF337-B010-8D3D-7A23-8E4FF8EA6B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The physical category layout trial implemented across </a:t>
            </a:r>
            <a:r>
              <a:rPr lang="en-IN" b="1" dirty="0">
                <a:solidFill>
                  <a:schemeClr val="tx1"/>
                </a:solidFill>
              </a:rPr>
              <a:t>Test Stores 77, 86, and 88 </a:t>
            </a:r>
            <a:r>
              <a:rPr lang="en-IN" dirty="0">
                <a:solidFill>
                  <a:schemeClr val="tx1"/>
                </a:solidFill>
              </a:rPr>
              <a:t>proved to be a highly definitive commercial success. The configuration yielded statistically significant increases in gross revenue and unique shopper traffic.</a:t>
            </a:r>
          </a:p>
          <a:p>
            <a:r>
              <a:rPr lang="en-IN" dirty="0">
                <a:solidFill>
                  <a:schemeClr val="tx1"/>
                </a:solidFill>
              </a:rPr>
              <a:t> A full-scale national store network rollout is strongly recommended</a:t>
            </a:r>
          </a:p>
        </p:txBody>
      </p:sp>
    </p:spTree>
    <p:extLst>
      <p:ext uri="{BB962C8B-B14F-4D97-AF65-F5344CB8AC3E}">
        <p14:creationId xmlns:p14="http://schemas.microsoft.com/office/powerpoint/2010/main" val="2864857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E1EDCF-E97F-E88A-D8D2-67E090BB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87" y="1003165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Pre-Christmas Demand Drives Peak Volume While Planned Christmas Closures Cause Standard Dip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307BBB-A1DB-06CE-3C3B-86D640F82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901" r="3294"/>
          <a:stretch>
            <a:fillRect/>
          </a:stretch>
        </p:blipFill>
        <p:spPr>
          <a:xfrm>
            <a:off x="1406769" y="2182762"/>
            <a:ext cx="9670760" cy="3672074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522772A7-594A-3495-AEDB-ECDB05364149}"/>
              </a:ext>
            </a:extLst>
          </p:cNvPr>
          <p:cNvSpPr/>
          <p:nvPr/>
        </p:nvSpPr>
        <p:spPr>
          <a:xfrm>
            <a:off x="5638799" y="5142271"/>
            <a:ext cx="186813" cy="6339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20829-9026-E3D6-C65C-3FD3DEAF00F1}"/>
              </a:ext>
            </a:extLst>
          </p:cNvPr>
          <p:cNvSpPr txBox="1"/>
          <p:nvPr/>
        </p:nvSpPr>
        <p:spPr>
          <a:xfrm>
            <a:off x="2684205" y="57761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Zero transactions recorded on 25 December due to planned Christmas Day store closures</a:t>
            </a:r>
          </a:p>
        </p:txBody>
      </p:sp>
    </p:spTree>
    <p:extLst>
      <p:ext uri="{BB962C8B-B14F-4D97-AF65-F5344CB8AC3E}">
        <p14:creationId xmlns:p14="http://schemas.microsoft.com/office/powerpoint/2010/main" val="204460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4E54-F40A-FEC1-B2C5-483FB45E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/>
              <a:t>Mainstream Demographics and Value-Seeking Families Anchor Total Category Revenue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BB2FE-4FE7-5544-19C2-FFF059767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93"/>
          <a:stretch>
            <a:fillRect/>
          </a:stretch>
        </p:blipFill>
        <p:spPr>
          <a:xfrm>
            <a:off x="677334" y="1751496"/>
            <a:ext cx="6359570" cy="46758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31E244-2660-0040-B8A5-7CE5C9906DC9}"/>
              </a:ext>
            </a:extLst>
          </p:cNvPr>
          <p:cNvSpPr txBox="1"/>
          <p:nvPr/>
        </p:nvSpPr>
        <p:spPr>
          <a:xfrm>
            <a:off x="7400957" y="1930400"/>
            <a:ext cx="3746090" cy="341632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Budget Older Families</a:t>
            </a:r>
            <a:r>
              <a:rPr lang="en-IN" dirty="0"/>
              <a:t> </a:t>
            </a:r>
            <a:r>
              <a:rPr lang="en-IN" b="1" dirty="0">
                <a:solidFill>
                  <a:schemeClr val="bg2"/>
                </a:solidFill>
              </a:rPr>
              <a:t>drive the highest overall sales volume because they purchase larger average quantities of chips per transaction. </a:t>
            </a:r>
          </a:p>
          <a:p>
            <a:r>
              <a:rPr lang="en-IN" b="1" dirty="0"/>
              <a:t>Mainstream Young Singles/Couples</a:t>
            </a:r>
            <a:r>
              <a:rPr lang="en-IN" dirty="0"/>
              <a:t> </a:t>
            </a:r>
            <a:r>
              <a:rPr lang="en-IN" b="1" dirty="0">
                <a:solidFill>
                  <a:schemeClr val="bg2"/>
                </a:solidFill>
              </a:rPr>
              <a:t>represent a high-value growth segment due to a vast unique customer population and a higher willingness to pay premium unit prices.</a:t>
            </a:r>
          </a:p>
        </p:txBody>
      </p:sp>
    </p:spTree>
    <p:extLst>
      <p:ext uri="{BB962C8B-B14F-4D97-AF65-F5344CB8AC3E}">
        <p14:creationId xmlns:p14="http://schemas.microsoft.com/office/powerpoint/2010/main" val="4359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B0E3-2330-DAF9-2DF4-B52912F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175g Pack Sizes Stand Out as the Clear Category Assortment Sweet Spot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2BB9F-4007-8957-A219-F82031E62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5" y="2324392"/>
            <a:ext cx="7602912" cy="34078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048655-6FA4-7C89-DC68-09016458839C}"/>
              </a:ext>
            </a:extLst>
          </p:cNvPr>
          <p:cNvSpPr/>
          <p:nvPr/>
        </p:nvSpPr>
        <p:spPr>
          <a:xfrm>
            <a:off x="8468139" y="1930400"/>
            <a:ext cx="2743200" cy="41622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B175A-0235-4237-2D7A-B0B5DC614BA4}"/>
              </a:ext>
            </a:extLst>
          </p:cNvPr>
          <p:cNvSpPr txBox="1"/>
          <p:nvPr/>
        </p:nvSpPr>
        <p:spPr>
          <a:xfrm>
            <a:off x="8603226" y="2153265"/>
            <a:ext cx="260811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Core data metrics confirm that </a:t>
            </a:r>
            <a:r>
              <a:rPr lang="en-IN" sz="1600" b="1" dirty="0"/>
              <a:t>175g pack sizes</a:t>
            </a:r>
            <a:r>
              <a:rPr lang="en-IN" sz="1600" dirty="0"/>
              <a:t> vastly dominate the category, generating the highest total sales value across all configurations.</a:t>
            </a:r>
          </a:p>
          <a:p>
            <a:r>
              <a:rPr lang="en-IN" sz="1600" b="1" dirty="0"/>
              <a:t>Strategic Recommendation:</a:t>
            </a:r>
            <a:r>
              <a:rPr lang="en-IN" sz="1600" dirty="0"/>
              <a:t> Prioritize shelf space optimization for 175g variants while considering range rationalization for lagging, slower-moving smaller pack volumes.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121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DA86-C76C-04E2-3DF0-BC847421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69" y="266439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Rigorous Control Matching Built with an Integer-Based Chronological Framework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3AE2F-17A4-7F35-B562-165759C938CA}"/>
              </a:ext>
            </a:extLst>
          </p:cNvPr>
          <p:cNvSpPr txBox="1"/>
          <p:nvPr/>
        </p:nvSpPr>
        <p:spPr>
          <a:xfrm>
            <a:off x="576470" y="2065660"/>
            <a:ext cx="9243391" cy="34778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dirty="0"/>
              <a:t>Raw dates were programmatically compressed into monthly performance buckets ({YEARMONTH} = {Year} * 100 + {Month}) to eliminate timeline fragmentation during chart aggregation.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dirty="0"/>
              <a:t>Control store pairs were optimized from a repository of 260+ candidate locations using a composite baseline score prioritizing </a:t>
            </a:r>
            <a:r>
              <a:rPr lang="en-IN" sz="2200" b="1" dirty="0"/>
              <a:t>Pearson Correlation</a:t>
            </a:r>
            <a:r>
              <a:rPr lang="en-IN" sz="2200" dirty="0"/>
              <a:t> and </a:t>
            </a:r>
            <a:r>
              <a:rPr lang="en-IN" sz="2200" b="1" dirty="0"/>
              <a:t>Standardized Magnitude Distance</a:t>
            </a:r>
            <a:r>
              <a:rPr lang="en-IN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b="1" dirty="0"/>
              <a:t>Optimized Assessment Store Pairs:</a:t>
            </a:r>
            <a:r>
              <a:rPr lang="en-IN" sz="2200" dirty="0"/>
              <a:t> * </a:t>
            </a:r>
            <a:r>
              <a:rPr lang="en-IN" sz="2200" b="1" dirty="0"/>
              <a:t>Trial Store 77</a:t>
            </a:r>
            <a:r>
              <a:rPr lang="en-IN" sz="2200" dirty="0"/>
              <a:t> matched with </a:t>
            </a:r>
            <a:r>
              <a:rPr lang="en-IN" sz="2200" b="1" dirty="0"/>
              <a:t>Control Store 233</a:t>
            </a:r>
            <a:r>
              <a:rPr lang="en-IN" sz="2200" dirty="0"/>
              <a:t> (96.8% Profile Match)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/>
              <a:t>Trial Store 86</a:t>
            </a:r>
            <a:r>
              <a:rPr lang="en-IN" sz="2200" dirty="0"/>
              <a:t> matched with </a:t>
            </a:r>
            <a:r>
              <a:rPr lang="en-IN" sz="2200" b="1" dirty="0"/>
              <a:t>Control Store 155</a:t>
            </a:r>
            <a:r>
              <a:rPr lang="en-IN" sz="2200" dirty="0"/>
              <a:t> (94.2% Profile Match)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/>
              <a:t>Trial Store 88</a:t>
            </a:r>
            <a:r>
              <a:rPr lang="en-IN" sz="2200" dirty="0"/>
              <a:t> matched with </a:t>
            </a:r>
            <a:r>
              <a:rPr lang="en-IN" sz="2200" b="1" dirty="0"/>
              <a:t>Control Store 178</a:t>
            </a:r>
            <a:r>
              <a:rPr lang="en-IN" sz="2200" dirty="0"/>
              <a:t> (80.0% Profile Match)</a:t>
            </a:r>
          </a:p>
        </p:txBody>
      </p:sp>
    </p:spTree>
    <p:extLst>
      <p:ext uri="{BB962C8B-B14F-4D97-AF65-F5344CB8AC3E}">
        <p14:creationId xmlns:p14="http://schemas.microsoft.com/office/powerpoint/2010/main" val="52547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BBE6-1D26-13C7-6543-8B61BCF5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30" y="202096"/>
            <a:ext cx="8596668" cy="871330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Trial Store 86: Physical Layout Restructuring Drives Core Revenue Growth and Customer Conversion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A86747-D76C-0D67-10B4-2A8248185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78" t="3123" r="15265"/>
          <a:stretch>
            <a:fillRect/>
          </a:stretch>
        </p:blipFill>
        <p:spPr>
          <a:xfrm>
            <a:off x="498429" y="939248"/>
            <a:ext cx="7913882" cy="2927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54B52B-33DE-809A-2E55-F20F3B1D1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07" t="3253" r="11662"/>
          <a:stretch>
            <a:fillRect/>
          </a:stretch>
        </p:blipFill>
        <p:spPr>
          <a:xfrm>
            <a:off x="498429" y="3866323"/>
            <a:ext cx="7913881" cy="27398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48C2EC-40B7-1850-7CAA-C1AC05932016}"/>
                  </a:ext>
                </a:extLst>
              </p:cNvPr>
              <p:cNvSpPr txBox="1"/>
              <p:nvPr/>
            </p:nvSpPr>
            <p:spPr>
              <a:xfrm>
                <a:off x="8587409" y="482039"/>
                <a:ext cx="3242974" cy="589392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300" b="1" dirty="0"/>
                  <a:t>Synchronized Performance Growth:</a:t>
                </a:r>
                <a:r>
                  <a:rPr lang="en-IN" sz="1300" dirty="0"/>
                  <a:t> </a:t>
                </a:r>
                <a:r>
                  <a:rPr lang="en-IN" sz="1300" dirty="0">
                    <a:solidFill>
                      <a:schemeClr val="accent1"/>
                    </a:solidFill>
                  </a:rPr>
                  <a:t>Performance tracking metrics reveal a perfectly synchronized upward shift in both total revenue and unique monthly customer counts during the active trial period.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300" b="1" dirty="0"/>
                  <a:t>Significant Revenue Surge:</a:t>
                </a:r>
                <a:r>
                  <a:rPr lang="en-IN" sz="1300" dirty="0"/>
                  <a:t> </a:t>
                </a:r>
                <a:r>
                  <a:rPr lang="en-IN" sz="1300" b="1" dirty="0">
                    <a:solidFill>
                      <a:schemeClr val="accent1"/>
                    </a:solidFill>
                  </a:rPr>
                  <a:t>Store 86 established immediate operational growth, peaking in March 2019 with a statistically significant +31.59% revenue surge (t = 8.38) that vastly outpaced the 95% critical threshold baseline of </a:t>
                </a:r>
                <a14:m>
                  <m:oMath xmlns:m="http://schemas.openxmlformats.org/officeDocument/2006/math">
                    <m:r>
                      <a:rPr lang="en-IN" sz="13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IN" sz="1300" b="1" dirty="0">
                    <a:solidFill>
                      <a:schemeClr val="accent1"/>
                    </a:solidFill>
                  </a:rPr>
                  <a:t>2.447.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300" b="1" dirty="0"/>
                  <a:t>Customer Footprint Expansion:</a:t>
                </a:r>
                <a:r>
                  <a:rPr lang="en-IN" sz="1300" dirty="0"/>
                  <a:t> </a:t>
                </a:r>
                <a:r>
                  <a:rPr lang="en-IN" sz="1300" b="1" dirty="0">
                    <a:solidFill>
                      <a:schemeClr val="accent1"/>
                    </a:solidFill>
                  </a:rPr>
                  <a:t>The parallel spike in the customer metrics graph confirms that revenue growth was fundamentally driven by an expanding footprint of unique shoppers entering the aisle, rather than localized price inflation.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300" b="1" dirty="0"/>
                  <a:t>Empirical Validation:</a:t>
                </a:r>
                <a:r>
                  <a:rPr lang="en-IN" sz="1300" dirty="0"/>
                  <a:t> </a:t>
                </a:r>
                <a:r>
                  <a:rPr lang="en-IN" sz="1300" b="1" dirty="0">
                    <a:solidFill>
                      <a:schemeClr val="accent1"/>
                    </a:solidFill>
                  </a:rPr>
                  <a:t>The strong statistical significance (t-value of 8.38) mathematically proves that this performance lift was a direct result of the physical layout optimizations rather than random market variance.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48C2EC-40B7-1850-7CAA-C1AC05932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409" y="482039"/>
                <a:ext cx="3242974" cy="5893921"/>
              </a:xfrm>
              <a:prstGeom prst="rect">
                <a:avLst/>
              </a:prstGeom>
              <a:blipFill>
                <a:blip r:embed="rId6"/>
                <a:stretch>
                  <a:fillRect l="-188" t="-103" r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8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0CFD-3BD8-6601-F9C8-0EBB6265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78" y="231913"/>
            <a:ext cx="7194457" cy="831574"/>
          </a:xfrm>
        </p:spPr>
        <p:txBody>
          <a:bodyPr>
            <a:normAutofit/>
          </a:bodyPr>
          <a:lstStyle/>
          <a:p>
            <a:r>
              <a:rPr lang="en-IN" sz="2400" b="1" dirty="0"/>
              <a:t>Trial Store 88: Replicated Performance Metrics Confirm Layout Scalability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7CBAB-2898-81DE-0E89-D5472C78A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4821"/>
          <a:stretch>
            <a:fillRect/>
          </a:stretch>
        </p:blipFill>
        <p:spPr>
          <a:xfrm>
            <a:off x="319526" y="1063487"/>
            <a:ext cx="7194457" cy="26087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6AAE77-BA7F-2F41-5A00-B2C0D9C75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26" t="1747" r="14029" b="627"/>
          <a:stretch>
            <a:fillRect/>
          </a:stretch>
        </p:blipFill>
        <p:spPr>
          <a:xfrm>
            <a:off x="399039" y="3638498"/>
            <a:ext cx="7273970" cy="32195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458B0F-A96A-A55E-FBC9-DBA8CDC550E8}"/>
              </a:ext>
            </a:extLst>
          </p:cNvPr>
          <p:cNvSpPr txBox="1"/>
          <p:nvPr/>
        </p:nvSpPr>
        <p:spPr>
          <a:xfrm>
            <a:off x="8105544" y="647700"/>
            <a:ext cx="3448878" cy="529375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Validated Revenue Expansion:</a:t>
            </a:r>
            <a:r>
              <a:rPr lang="en-IN" sz="1600" dirty="0"/>
              <a:t> </a:t>
            </a:r>
            <a:r>
              <a:rPr lang="en-IN" sz="1600" dirty="0">
                <a:solidFill>
                  <a:schemeClr val="tx2"/>
                </a:solidFill>
              </a:rPr>
              <a:t>Evaluation of Trial Store 88 securely verifies the commercial trend, locking in a clear, statistically significant </a:t>
            </a:r>
            <a:r>
              <a:rPr lang="en-IN" sz="1600" b="1" dirty="0"/>
              <a:t>+22.07% revenue expansion (t = 3.86)</a:t>
            </a:r>
            <a:r>
              <a:rPr lang="en-IN" sz="1600" dirty="0"/>
              <a:t> within the active trial      </a:t>
            </a:r>
            <a:r>
              <a:rPr lang="en-IN" sz="1600" b="1" dirty="0"/>
              <a:t>Customer Traffic Stabilization:</a:t>
            </a:r>
            <a:r>
              <a:rPr lang="en-IN" sz="1600" dirty="0"/>
              <a:t> </a:t>
            </a:r>
            <a:r>
              <a:rPr lang="en-IN" sz="1600" dirty="0">
                <a:solidFill>
                  <a:schemeClr val="tx2"/>
                </a:solidFill>
              </a:rPr>
              <a:t>While early trial traffic experienced minor adaptation variance, unique customer counts stabilized upward, outpacing the control baseline</a:t>
            </a:r>
            <a:r>
              <a:rPr lang="en-IN" sz="1600" dirty="0"/>
              <a:t> during peak trial sequences.</a:t>
            </a:r>
          </a:p>
          <a:p>
            <a:r>
              <a:rPr lang="en-IN" sz="1600" b="1" dirty="0"/>
              <a:t>Systemic Success:</a:t>
            </a:r>
            <a:r>
              <a:rPr lang="en-IN" sz="1600" dirty="0"/>
              <a:t> </a:t>
            </a:r>
            <a:r>
              <a:rPr lang="en-IN" sz="1600" dirty="0">
                <a:solidFill>
                  <a:schemeClr val="tx2"/>
                </a:solidFill>
              </a:rPr>
              <a:t>Achieving decisive mathematical significance here (</a:t>
            </a:r>
            <a:r>
              <a:rPr lang="en-IN" sz="1600" b="1" dirty="0"/>
              <a:t>t-value of 3.86 vastly clearing the 95% critical threshold)</a:t>
            </a:r>
            <a:r>
              <a:rPr lang="en-IN" sz="1600" dirty="0">
                <a:solidFill>
                  <a:schemeClr val="tx2"/>
                </a:solidFill>
              </a:rPr>
              <a:t> officially eliminates the possibility that your layout success was a localized </a:t>
            </a:r>
            <a:r>
              <a:rPr lang="en-IN" dirty="0">
                <a:solidFill>
                  <a:schemeClr val="tx2"/>
                </a:solidFill>
              </a:rPr>
              <a:t>fluke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482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6432-40F5-AF51-9F74-CB48BE22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21" y="112643"/>
            <a:ext cx="8596668" cy="861391"/>
          </a:xfrm>
        </p:spPr>
        <p:txBody>
          <a:bodyPr>
            <a:normAutofit/>
          </a:bodyPr>
          <a:lstStyle/>
          <a:p>
            <a:r>
              <a:rPr lang="en-IN" sz="2400" b="1" dirty="0"/>
              <a:t>Trial Store 77: New Physical Layout Delivers Highly Significant Commercial Revenue Growth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DB6F0D-08A2-017E-F953-B6FCE509F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85" r="15048"/>
          <a:stretch>
            <a:fillRect/>
          </a:stretch>
        </p:blipFill>
        <p:spPr>
          <a:xfrm>
            <a:off x="536713" y="974034"/>
            <a:ext cx="7782338" cy="2534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715675-E7D5-4273-9746-DE2352E5E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8" r="17760"/>
          <a:stretch>
            <a:fillRect/>
          </a:stretch>
        </p:blipFill>
        <p:spPr>
          <a:xfrm>
            <a:off x="536713" y="3727175"/>
            <a:ext cx="7693084" cy="2852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EBC8D3-CF5E-4F44-872E-38F953A136B6}"/>
              </a:ext>
            </a:extLst>
          </p:cNvPr>
          <p:cNvSpPr txBox="1"/>
          <p:nvPr/>
        </p:nvSpPr>
        <p:spPr>
          <a:xfrm>
            <a:off x="8746435" y="112643"/>
            <a:ext cx="3076344" cy="660180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50" b="1" dirty="0"/>
              <a:t>Synchronized Performance Lift:</a:t>
            </a:r>
            <a:r>
              <a:rPr lang="en-IN" sz="1350" dirty="0"/>
              <a:t> </a:t>
            </a:r>
            <a:r>
              <a:rPr lang="en-IN" sz="1350" dirty="0">
                <a:solidFill>
                  <a:schemeClr val="accent1"/>
                </a:solidFill>
              </a:rPr>
              <a:t>Performance tracking metrics for Trial Store 77 reveal a powerful, synchronized upward shift in both total sales revenue and unique customer counts during the active trial window.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50" b="1" dirty="0"/>
              <a:t>Significant Revenue Surge</a:t>
            </a:r>
            <a:r>
              <a:rPr lang="en-IN" sz="1350" b="1" dirty="0">
                <a:solidFill>
                  <a:schemeClr val="accent1"/>
                </a:solidFill>
              </a:rPr>
              <a:t>:</a:t>
            </a:r>
            <a:r>
              <a:rPr lang="en-IN" sz="1350" dirty="0">
                <a:solidFill>
                  <a:schemeClr val="accent1"/>
                </a:solidFill>
              </a:rPr>
              <a:t> Store 77 established immediate operational growth, securing a statistically significant </a:t>
            </a:r>
            <a:r>
              <a:rPr lang="en-IN" sz="1350" b="1" dirty="0"/>
              <a:t>+36.65% </a:t>
            </a:r>
            <a:r>
              <a:rPr lang="en-IN" sz="1350" b="1" dirty="0">
                <a:solidFill>
                  <a:schemeClr val="accent1"/>
                </a:solidFill>
              </a:rPr>
              <a:t>revenue surge (</a:t>
            </a:r>
            <a:r>
              <a:rPr lang="en-IN" sz="1350" b="1" dirty="0"/>
              <a:t>t = 3.68</a:t>
            </a:r>
            <a:r>
              <a:rPr lang="en-IN" sz="1350" b="1" dirty="0">
                <a:solidFill>
                  <a:schemeClr val="accent1"/>
                </a:solidFill>
              </a:rPr>
              <a:t>)</a:t>
            </a:r>
            <a:r>
              <a:rPr lang="en-IN" sz="1350" dirty="0">
                <a:solidFill>
                  <a:schemeClr val="accent1"/>
                </a:solidFill>
              </a:rPr>
              <a:t> that outpaced baseline critical thresholds.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50" b="1" dirty="0"/>
              <a:t>Traffic-Driven Category Uplift:</a:t>
            </a:r>
            <a:r>
              <a:rPr lang="en-IN" sz="1350" dirty="0"/>
              <a:t> </a:t>
            </a:r>
            <a:r>
              <a:rPr lang="en-IN" sz="1350" dirty="0">
                <a:solidFill>
                  <a:schemeClr val="accent1"/>
                </a:solidFill>
              </a:rPr>
              <a:t>Growth was fundamentally driven by expanding the absolute number of unique loyalty cardholders physically entering and buying from the aisle, rather than localized price inflation</a:t>
            </a:r>
            <a:r>
              <a:rPr lang="en-IN" sz="135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50" b="1" dirty="0"/>
              <a:t>Compounding Consumer Adaptation</a:t>
            </a:r>
            <a:r>
              <a:rPr lang="en-IN" sz="1350" b="1" dirty="0">
                <a:solidFill>
                  <a:schemeClr val="accent1"/>
                </a:solidFill>
              </a:rPr>
              <a:t>:</a:t>
            </a:r>
            <a:r>
              <a:rPr lang="en-IN" sz="1350" dirty="0">
                <a:solidFill>
                  <a:schemeClr val="accent1"/>
                </a:solidFill>
              </a:rPr>
              <a:t> Revenue indices grew progressively stronger across late trial months. This highlights a strong consumer adaptation trend: as shoppers built spatial familiarity with the new configuration layout, conversion metrics compounded</a:t>
            </a:r>
            <a:r>
              <a:rPr lang="en-IN" sz="135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093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1B51-C1A3-0617-2228-A6B857EE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47" y="231913"/>
            <a:ext cx="9003379" cy="891209"/>
          </a:xfrm>
        </p:spPr>
        <p:txBody>
          <a:bodyPr>
            <a:normAutofit/>
          </a:bodyPr>
          <a:lstStyle/>
          <a:p>
            <a:r>
              <a:rPr lang="en-IN" sz="2400" b="1" dirty="0"/>
              <a:t>Performance Synthesis: Cross-Network Trial Outcomes &amp; Statistical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04ACE-EEF5-F3C2-0112-DB516F3B4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1" t="18888" r="7527" b="27946"/>
          <a:stretch>
            <a:fillRect/>
          </a:stretch>
        </p:blipFill>
        <p:spPr>
          <a:xfrm>
            <a:off x="377687" y="1123122"/>
            <a:ext cx="10419522" cy="3617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6309B0-7092-E636-FC62-854F69CDE1E7}"/>
              </a:ext>
            </a:extLst>
          </p:cNvPr>
          <p:cNvSpPr txBox="1"/>
          <p:nvPr/>
        </p:nvSpPr>
        <p:spPr>
          <a:xfrm>
            <a:off x="377687" y="4996069"/>
            <a:ext cx="10823713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Unanimous Network Lift:</a:t>
            </a:r>
            <a:r>
              <a:rPr lang="en-IN" dirty="0"/>
              <a:t> All three independent test environments successfully passed the </a:t>
            </a:r>
            <a:r>
              <a:rPr lang="en-IN" b="1" dirty="0"/>
              <a:t>95% confidence interval threshold, proving a 100% layout success rate across diverse store profiles</a:t>
            </a:r>
            <a:r>
              <a:rPr lang="en-IN" dirty="0"/>
              <a:t>.</a:t>
            </a:r>
          </a:p>
          <a:p>
            <a:r>
              <a:rPr lang="en-IN" b="1" dirty="0"/>
              <a:t>Isolating the Growth Driver:</a:t>
            </a:r>
            <a:r>
              <a:rPr lang="en-IN" dirty="0"/>
              <a:t> Across the board, the statistical data confirms that revenue surges were strictly correlated with an increase in customer foot traffic and conversion inside the chip aisle.</a:t>
            </a:r>
          </a:p>
          <a:p>
            <a:r>
              <a:rPr lang="en-IN" b="1" dirty="0"/>
              <a:t>Definitive Rollout Mandate:</a:t>
            </a:r>
            <a:r>
              <a:rPr lang="en-IN" dirty="0"/>
              <a:t> Because the layout changes yielded undeniable commercial success across all three distinct trial locations, any risk of localized bias is removed.</a:t>
            </a:r>
          </a:p>
        </p:txBody>
      </p:sp>
    </p:spTree>
    <p:extLst>
      <p:ext uri="{BB962C8B-B14F-4D97-AF65-F5344CB8AC3E}">
        <p14:creationId xmlns:p14="http://schemas.microsoft.com/office/powerpoint/2010/main" val="192503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35A4-3877-9F45-9D50-88E4ABB0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490" y="202095"/>
            <a:ext cx="7373362" cy="940904"/>
          </a:xfrm>
        </p:spPr>
        <p:txBody>
          <a:bodyPr>
            <a:noAutofit/>
          </a:bodyPr>
          <a:lstStyle/>
          <a:p>
            <a:r>
              <a:rPr lang="en-IN" sz="2800" b="1" dirty="0"/>
              <a:t>Strategic Roadmap: National Network Rollout And Assortment Mandate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A63BE-0196-E31D-4F9F-A7652FB9599C}"/>
              </a:ext>
            </a:extLst>
          </p:cNvPr>
          <p:cNvSpPr txBox="1"/>
          <p:nvPr/>
        </p:nvSpPr>
        <p:spPr>
          <a:xfrm>
            <a:off x="488490" y="1590260"/>
            <a:ext cx="9273208" cy="437042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Immediate National Rollout:</a:t>
            </a:r>
            <a:r>
              <a:rPr lang="en-IN" sz="2000" dirty="0"/>
              <a:t> Initiate an immediate, phased rollout of the optimized physical category layout across all standard supermarkets in the national network.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Prioritize Mainstream Hubs:</a:t>
            </a:r>
            <a:r>
              <a:rPr lang="en-IN" sz="2000" dirty="0"/>
              <a:t> Prioritize implementation in high-density urban locations matching the demographic profiles of Store 77 and 86, where </a:t>
            </a:r>
            <a:r>
              <a:rPr lang="en-IN" sz="2000" i="1" dirty="0"/>
              <a:t>Mainstream Young Singles/Couples</a:t>
            </a:r>
            <a:r>
              <a:rPr lang="en-IN" sz="2000" dirty="0"/>
              <a:t> spend premium margins.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Shelf Space Rationalization:</a:t>
            </a:r>
            <a:r>
              <a:rPr lang="en-IN" sz="2000" dirty="0"/>
              <a:t> Combine the new physical layout with an assortment update: maximize shelf facings for dominant </a:t>
            </a:r>
            <a:r>
              <a:rPr lang="en-IN" sz="2000" b="1" dirty="0"/>
              <a:t>175g pack sizes</a:t>
            </a:r>
            <a:r>
              <a:rPr lang="en-IN" sz="2000" dirty="0"/>
              <a:t>, and reduce inventory tracking allocations for slower-moving, lagging smaller variants.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Continuous Data Feedback:</a:t>
            </a:r>
            <a:r>
              <a:rPr lang="en-IN" sz="2000" dirty="0"/>
              <a:t> Establish an automated tracking dashboard inside Power BI using the {YEARMONTH} framework to monitor post-rollout sales drift and customer adaptation rates over the next 12 months.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6728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795</TotalTime>
  <Words>984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Trebuchet MS</vt:lpstr>
      <vt:lpstr>Wingdings</vt:lpstr>
      <vt:lpstr>Wingdings 3</vt:lpstr>
      <vt:lpstr>Facet</vt:lpstr>
      <vt:lpstr>Category Review: Chips</vt:lpstr>
      <vt:lpstr>Executive Summary</vt:lpstr>
      <vt:lpstr>Pre-Christmas Demand Drives Peak Volume While Planned Christmas Closures Cause Standard Dip</vt:lpstr>
      <vt:lpstr>Mainstream Demographics and Value-Seeking Families Anchor Total Category Revenue</vt:lpstr>
      <vt:lpstr>175g Pack Sizes Stand Out as the Clear Category Assortment Sweet Spot</vt:lpstr>
      <vt:lpstr>Rigorous Control Matching Built with an Integer-Based Chronological Framework</vt:lpstr>
      <vt:lpstr>Trial Store 86: Physical Layout Restructuring Drives Core Revenue Growth and Customer Conversion</vt:lpstr>
      <vt:lpstr>Trial Store 88: Replicated Performance Metrics Confirm Layout Scalability</vt:lpstr>
      <vt:lpstr>Trial Store 77: New Physical Layout Delivers Highly Significant Commercial Revenue Growth</vt:lpstr>
      <vt:lpstr>Performance Synthesis: Cross-Network Trial Outcomes &amp; Statistical Summary</vt:lpstr>
      <vt:lpstr>Strategic Roadmap: National Network Rollout And Assortment Mandate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Alivia Mandal</dc:creator>
  <cp:lastModifiedBy>Alivia Mandal</cp:lastModifiedBy>
  <cp:revision>7</cp:revision>
  <dcterms:created xsi:type="dcterms:W3CDTF">2026-06-23T06:19:57Z</dcterms:created>
  <dcterms:modified xsi:type="dcterms:W3CDTF">2026-06-24T12:09:13Z</dcterms:modified>
</cp:coreProperties>
</file>